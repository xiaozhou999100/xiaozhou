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254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微软雅黑"/>
              </a:defRPr>
            </a:pPr>
            <a:r>
              <a:t>制造智能技术课程设计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EDF7"/>
                </a:solidFill>
                <a:latin typeface="微软雅黑"/>
              </a:defRPr>
            </a:pPr>
            <a:r>
              <a:t>数字孪生车间智能监控与运维平台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Digital Twin Workshop Intelligent Monitoring &amp; Maintenance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1828800" cy="9144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课程名称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制造智能技术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572000"/>
            <a:ext cx="1828800" cy="9144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设计题目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数字孪生车间智能监控与运维平台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1828800" cy="9144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学生姓名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×××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572000"/>
            <a:ext cx="1828800" cy="9144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完成日期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2026 年 9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470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背景与研究意义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8470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系统目标与业务闭环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技术方向与系统架构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数据资源构建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0480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41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算法模块实现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041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系统界面与测试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37759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13892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AI 使用披露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37759"/>
            <a:ext cx="4754880" cy="8229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13892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DF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背景与研究意义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工业设备运维从"被动响应"到"主动预判"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18288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微软雅黑"/>
              </a:defRPr>
            </a:pPr>
            <a:r>
              <a:t>事后维修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Run-to-Failure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故障后维修</a:t>
            </a:r>
            <a:br/>
            <a:r>
              <a:t>停机损失大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18288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定期检修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Preventive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固定周期维护</a:t>
            </a:r>
            <a:br/>
            <a:r>
              <a:t>过度/不足维修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18288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微软雅黑"/>
              </a:defRPr>
            </a:pPr>
            <a:r>
              <a:t>预测性维护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Predictive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060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数据驱动预测</a:t>
            </a:r>
            <a:br/>
            <a:r>
              <a:t>故障前精准干预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11064240" cy="25603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研究意义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数字孪生 + 预测性维护：将物理设备全要素映射到虚拟车间，实时同步状态，实现"所见即所得"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多技术融合验证：数字孪生、机器学习、深度学习、数据挖掘、专家系统集成于一个完整业务系统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可复现可演示：基于公开数据集 + 单机运行，为同类课程设计和小型工业项目提供参考架构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vibe coding 实践：提示词工程、上下文工程、规格驱动开发、自动化测试全流程标准化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系统目标与业务闭环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从设备监测到维修工单的端到端闭环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737360" cy="1188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微软雅黑"/>
              </a:defRPr>
            </a:pPr>
            <a:r>
              <a:t>设备监测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5C0"/>
                </a:solidFill>
                <a:latin typeface="微软雅黑"/>
              </a:defRPr>
            </a:pPr>
            <a:r>
              <a:t>传感器时序采集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737360" cy="1188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微软雅黑"/>
              </a:defRPr>
            </a:pPr>
            <a:r>
              <a:t>异常检测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5C0"/>
                </a:solidFill>
                <a:latin typeface="微软雅黑"/>
              </a:defRPr>
            </a:pPr>
            <a:r>
              <a:t>孤立森林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1737360" cy="1188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风险预警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5C0"/>
                </a:solidFill>
                <a:latin typeface="微软雅黑"/>
              </a:defRPr>
            </a:pPr>
            <a:r>
              <a:t>自动生成预警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1737360" cy="1188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专家诊断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5C0"/>
                </a:solidFill>
                <a:latin typeface="微软雅黑"/>
              </a:defRPr>
            </a:pPr>
            <a:r>
              <a:t>IF-THEN 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828800"/>
            <a:ext cx="1737360" cy="1188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工单生成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5C0"/>
                </a:solidFill>
                <a:latin typeface="微软雅黑"/>
              </a:defRPr>
            </a:pPr>
            <a:r>
              <a:t>自动创建工单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828800"/>
            <a:ext cx="1737360" cy="11887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微软雅黑"/>
              </a:defRPr>
            </a:pPr>
            <a:r>
              <a:t>状态流转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A5C0"/>
                </a:solidFill>
                <a:latin typeface="微软雅黑"/>
              </a:defRPr>
            </a:pPr>
            <a:r>
              <a:t>待处理→已完成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微软雅黑"/>
              </a:defRPr>
            </a:pPr>
            <a:r>
              <a:t>↻ 闭环完成，回到监测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微软雅黑"/>
              </a:defRPr>
            </a:pPr>
            <a:r>
              <a:t>六大功能页面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80560"/>
            <a:ext cx="173736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EDF7"/>
                </a:solidFill>
                <a:latin typeface="微软雅黑"/>
              </a:defRPr>
            </a:pPr>
            <a:r>
              <a:t>数字孪生可视化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480560"/>
            <a:ext cx="173736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EDF7"/>
                </a:solidFill>
                <a:latin typeface="微软雅黑"/>
              </a:defRPr>
            </a:pPr>
            <a:r>
              <a:t>车间设备台账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480560"/>
            <a:ext cx="173736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EDF7"/>
                </a:solidFill>
                <a:latin typeface="微软雅黑"/>
              </a:defRPr>
            </a:pPr>
            <a:r>
              <a:t>实时数据监测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480560"/>
            <a:ext cx="173736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EDF7"/>
                </a:solidFill>
                <a:latin typeface="微软雅黑"/>
              </a:defRPr>
            </a:pPr>
            <a:r>
              <a:t>健康与能耗评估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480560"/>
            <a:ext cx="173736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EDF7"/>
                </a:solidFill>
                <a:latin typeface="微软雅黑"/>
              </a:defRPr>
            </a:pPr>
            <a:r>
              <a:t>孪生预警中心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4480560"/>
            <a:ext cx="173736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6EDF7"/>
                </a:solidFill>
                <a:latin typeface="微软雅黑"/>
              </a:defRPr>
            </a:pPr>
            <a:r>
              <a:t>运维工单管理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微软雅黑"/>
              </a:defRPr>
            </a:pPr>
            <a:r>
              <a:t>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台设备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微软雅黑"/>
              </a:defRPr>
            </a:pPr>
            <a:r>
              <a:t>52/52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测试全绿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微软雅黑"/>
              </a:defRPr>
            </a:pPr>
            <a:r>
              <a:t>4+1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技术方向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59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59" y="6035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功能页面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技术方向与系统架构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B/S 架构 · 五层分离 · 单机可运行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技术方向映射（覆盖课程 4+ 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84632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7"/>
                </a:solidFill>
                <a:latin typeface="微软雅黑"/>
              </a:defRPr>
            </a:pPr>
            <a:r>
              <a:t>数字孪生技术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385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虚实映射 / 状态可视化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484632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7"/>
                </a:solidFill>
                <a:latin typeface="微软雅黑"/>
              </a:defRPr>
            </a:pPr>
            <a:r>
              <a:t>机器学习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15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随机森林 RUL 预测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484632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7"/>
                </a:solidFill>
                <a:latin typeface="微软雅黑"/>
              </a:defRPr>
            </a:pPr>
            <a:r>
              <a:t>深度学习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930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LSTM 时序预测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484632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7"/>
                </a:solidFill>
                <a:latin typeface="微软雅黑"/>
              </a:defRPr>
            </a:pPr>
            <a:r>
              <a:t>数据挖掘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702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孤立森林异常检测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484632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7"/>
                </a:solidFill>
                <a:latin typeface="微软雅黑"/>
              </a:defRPr>
            </a:pPr>
            <a:r>
              <a:t>专家系统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20 条 IF-THEN 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系统五层架构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828800"/>
            <a:ext cx="566928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微软雅黑"/>
              </a:defRPr>
            </a:pPr>
            <a:r>
              <a:t>表现层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38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Vue3 + Element Plus + ECharts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606040"/>
            <a:ext cx="566928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微软雅黑"/>
              </a:defRPr>
            </a:pPr>
            <a:r>
              <a:t>接口层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7157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FastAPI RESTful API /api/v1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383280"/>
            <a:ext cx="566928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业务层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4930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评估 / 检测 / 诊断 / 预警 / 工单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160520"/>
            <a:ext cx="566928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251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微软雅黑"/>
              </a:defRPr>
            </a:pPr>
            <a:r>
              <a:t>算法层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270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RF / LSTM / 孤立森林 / 专家系统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937760"/>
            <a:ext cx="5669280" cy="64008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5C6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C6F8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0474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SQLite 5表 + 固化模型 + C-MAPSS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数据资源构建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NASA C-MAPSS FD001 · 公开工业设备时序数据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22860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数据集概况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NASA C-MAPSS 涡扇发动机退化仿真数据集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FD001 子集：单工况、单故障模式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100 台发动机全寿命 run-to-failure 数据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引用：Saxena et al. PHM08, 2008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官方链接：data.nasa.gov（有效可访问）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468880" cy="100584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20,631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训练集行数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63040"/>
            <a:ext cx="2468880" cy="100584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13,096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测试集行数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51760"/>
            <a:ext cx="2468880" cy="100584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15+2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传感器+工况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651760"/>
            <a:ext cx="2468880" cy="100584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微软雅黑"/>
              </a:defRPr>
            </a:pPr>
            <a:r>
              <a:t>125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RUL 截断上限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预处理流程（data/preprocess.py）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2011680" cy="7315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列名补充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663440"/>
            <a:ext cx="2011680" cy="7315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零方差剔除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663440"/>
            <a:ext cx="2011680" cy="7315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标签构造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4663440"/>
            <a:ext cx="2011680" cy="7315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MinMax 归一化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4663440"/>
            <a:ext cx="2011680" cy="7315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7"/>
                </a:solidFill>
                <a:latin typeface="微软雅黑"/>
              </a:defRPr>
            </a:pPr>
            <a:r>
              <a:t>SQLite 入库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输出：data/processed/（train 20631行 / test 13096行 / 设备台账100台）+ equipment.db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算法模块（一）：特征工程与随机森林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77 维窗口特征 · RUL 预测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5603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特征工程（30 周期滑动窗口）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统计特征：mean / std / min / max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15 传感器 × 4 统计量 = 60 维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+ 2 工况特征 = 62 维（基线）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阶段6升级：+ 线性趋势斜率 15 维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最终：77 维特征向量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25603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微软雅黑"/>
              </a:defRPr>
            </a:pPr>
            <a:r>
              <a:t>随机森林 RUL 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RandomForestRegressor (n_estimators=100)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输入：77 维窗口特征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输出：剩余寿命 RUL (cycles)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健康度 = min(RUL/125, 1.0)</a:t>
            </a:r>
          </a:p>
          <a:p>
            <a:pPr>
              <a:spcAft>
                <a:spcPts val="800"/>
              </a:spcAft>
              <a:defRPr sz="1400">
                <a:solidFill>
                  <a:srgbClr val="93A5C0"/>
                </a:solidFill>
                <a:latin typeface="微软雅黑"/>
              </a:defRPr>
            </a:pPr>
            <a:r>
              <a:t>固化为 random_forest_rul.joblib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特征工程升级效果对比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3840480" cy="13716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03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C6F8F"/>
                </a:solidFill>
                <a:latin typeface="微软雅黑"/>
              </a:defRPr>
            </a:pPr>
            <a:r>
              <a:t>13.55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394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303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微软雅黑"/>
              </a:defRPr>
            </a:pPr>
            <a:r>
              <a:t>10.55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97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升级前 → 升级后（↓ 22.1%）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846320"/>
            <a:ext cx="3840480" cy="13716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03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C6F8F"/>
                </a:solidFill>
                <a:latin typeface="微软雅黑"/>
              </a:defRPr>
            </a:pPr>
            <a:r>
              <a:t>0.53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5394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5303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微软雅黑"/>
              </a:defRPr>
            </a:pPr>
            <a:r>
              <a:t>0.72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897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微软雅黑"/>
              </a:defRPr>
            </a:pPr>
            <a:r>
              <a:t>升级前 → 升级后（↑ 35.8%）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算法模块（二）：LSTM 与孤立森林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深度学习时序预测 + 无监督异常检测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微软雅黑"/>
              </a:defRPr>
            </a:pPr>
            <a:r>
              <a:t>LSTM 深度学习时序模型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输入：30 周期 × 17 归一化特征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结构：2 层 LSTM(隐藏64) + FC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训练：45 epochs，PyTorch CPU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固化为 lstm_rul.pt (90KB)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微软雅黑"/>
              </a:defRPr>
            </a:pPr>
            <a:r>
              <a:t>9.02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微软雅黑"/>
              </a:defRPr>
            </a:pPr>
            <a:r>
              <a:t>0.77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微软雅黑"/>
              </a:defRPr>
            </a:pPr>
            <a:r>
              <a:t>优于随机森林（MAE 10.55 / R² 0.72）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394960" cy="27432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孤立森林异常检测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无监督异常检测（IsolationForest）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训练策略：健康早期 50% 建基线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77 维特征输入，标记偏离样本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固化为 isolation_forest.pkl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精确率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微软雅黑"/>
              </a:defRPr>
            </a:pPr>
            <a:r>
              <a:t>0.49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474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召回率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微软雅黑"/>
              </a:defRPr>
            </a:pPr>
            <a:r>
              <a:t>0.29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升级前：精确率 0.43 / 召回率 0.26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64240" cy="1645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微软雅黑"/>
              </a:defRPr>
            </a:pPr>
            <a:r>
              <a:t>模型对比结论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3A5C0"/>
                </a:solidFill>
                <a:latin typeface="微软雅黑"/>
              </a:defRPr>
            </a:pPr>
            <a:r>
              <a:t>LSTM 在时序退化数据上表现最优（MAE 9.02 / R² 0.77），验证了深度学习对长序列依赖的建模能力</a:t>
            </a:r>
          </a:p>
          <a:p>
            <a:pPr>
              <a:spcAft>
                <a:spcPts val="800"/>
              </a:spcAft>
              <a:defRPr sz="1200">
                <a:solidFill>
                  <a:srgbClr val="93A5C0"/>
                </a:solidFill>
                <a:latin typeface="微软雅黑"/>
              </a:defRPr>
            </a:pPr>
            <a:r>
              <a:t>随机森林可解释性强、训练快，作为基线模型；LSTM 作为对比优化模型，两者互补</a:t>
            </a:r>
          </a:p>
          <a:p>
            <a:pPr>
              <a:spcAft>
                <a:spcPts val="800"/>
              </a:spcAft>
              <a:defRPr sz="1200">
                <a:solidFill>
                  <a:srgbClr val="93A5C0"/>
                </a:solidFill>
                <a:latin typeface="微软雅黑"/>
              </a:defRPr>
            </a:pPr>
            <a:r>
              <a:t>孤立森林 + 专家系统规则形成"数据驱动异常检测 + 知识驱动故障诊断"双引擎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算法模块（三）：专家系统故障诊断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20 条 IF-THEN 规则 · 可追溯可解释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400800" cy="41148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微软雅黑"/>
              </a:defRPr>
            </a:pPr>
            <a:r>
              <a:t>规则示例 R001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Consolas"/>
              </a:defRPr>
            </a:pPr>
            <a:r>
              <a:t>IF  HPT排气温度 持续升高（斜率 &gt; 阈值）</a:t>
            </a:r>
            <a:br/>
            <a:r>
              <a:t>AND 健康度 &lt; 0.4</a:t>
            </a:r>
            <a:br/>
            <a:r>
              <a:t>AND 孤立森林标记异常</a:t>
            </a:r>
            <a:br/>
            <a:br/>
            <a:r>
              <a:t>THEN 故障部位：高压涡轮（HPT）叶片</a:t>
            </a:r>
            <a:br/>
            <a:r>
              <a:t>     排查步骤：检查涡轮叶片间隙、热腐蚀、冷却气道</a:t>
            </a:r>
            <a:br/>
            <a:r>
              <a:t>     维修建议：安排孔探仪检查，必要时更换叶片</a:t>
            </a:r>
            <a:br/>
            <a:r>
              <a:t>     优先级：严重（自动生成高优先级工单）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4297680" cy="41148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00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规则库概况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微软雅黑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规则总数 R001~R020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260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17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故障部位类别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7490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优先级等级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可追溯可解释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029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规则引擎接收异常检测+评估数据</a:t>
            </a:r>
            <a:br/>
            <a:r>
              <a:t>输出结构化诊断报告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系统界面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Vue3 + Element Plus + ECharts · 深蓝工业风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2103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7"/>
                </a:solidFill>
                <a:latin typeface="微软雅黑"/>
              </a:defRPr>
            </a:pPr>
            <a:r>
              <a:t>数字孪生可视化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onsolas"/>
              </a:defRPr>
            </a:pPr>
            <a:r>
              <a:t>/twin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设备状态网格</a:t>
            </a:r>
            <a:br/>
            <a:r>
              <a:t>统计概览</a:t>
            </a:r>
            <a:br/>
            <a:r>
              <a:t>一键诊断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566160" cy="2103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7"/>
                </a:solidFill>
                <a:latin typeface="微软雅黑"/>
              </a:defRPr>
            </a:pPr>
            <a:r>
              <a:t>车间设备台账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onsolas"/>
              </a:defRPr>
            </a:pPr>
            <a:r>
              <a:t>/equipment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设备 CRUD</a:t>
            </a:r>
            <a:br/>
            <a:r>
              <a:t>搜索筛选</a:t>
            </a:r>
            <a:br/>
            <a:r>
              <a:t>分页管理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566160" cy="2103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7"/>
                </a:solidFill>
                <a:latin typeface="微软雅黑"/>
              </a:defRPr>
            </a:pPr>
            <a:r>
              <a:t>实时数据监测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onsolas"/>
              </a:defRPr>
            </a:pPr>
            <a:r>
              <a:t>/monitoring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传感器曲线</a:t>
            </a:r>
            <a:br/>
            <a:r>
              <a:t>异常红点</a:t>
            </a:r>
            <a:br/>
            <a:r>
              <a:t>周期明细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566160" cy="2103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7"/>
                </a:solidFill>
                <a:latin typeface="微软雅黑"/>
              </a:defRPr>
            </a:pPr>
            <a:r>
              <a:t>健康与能耗评估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onsolas"/>
              </a:defRPr>
            </a:pPr>
            <a:r>
              <a:t>/evaluation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随机森林评估</a:t>
            </a:r>
            <a:br/>
            <a:r>
              <a:t>健康度仪表盘</a:t>
            </a:r>
            <a:br/>
            <a:r>
              <a:t>历史记录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31920"/>
            <a:ext cx="3566160" cy="2103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7"/>
                </a:solidFill>
                <a:latin typeface="微软雅黑"/>
              </a:defRPr>
            </a:pPr>
            <a:r>
              <a:t>孪生预警中心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onsolas"/>
              </a:defRPr>
            </a:pPr>
            <a:r>
              <a:t>/alerts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预警列表</a:t>
            </a:r>
            <a:br/>
            <a:r>
              <a:t>生成工单</a:t>
            </a:r>
            <a:br/>
            <a:r>
              <a:t>一键闭环演练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566160" cy="2103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DF7"/>
                </a:solidFill>
                <a:latin typeface="微软雅黑"/>
              </a:defRPr>
            </a:pPr>
            <a:r>
              <a:t>运维工单管理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onsolas"/>
              </a:defRPr>
            </a:pPr>
            <a:r>
              <a:t>/work-orders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工单流转</a:t>
            </a:r>
            <a:br/>
            <a:r>
              <a:t>新建工单</a:t>
            </a:r>
            <a:br/>
            <a:r>
              <a:t>状态管理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测试与集成调试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52 用例全绿 · 端到端闭环验证通过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32004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微软雅黑"/>
              </a:defRPr>
            </a:pPr>
            <a:r>
              <a:t>自动化测试（pytest）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微软雅黑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762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基础接口 + 算法模块测试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706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LSTM 深度学习模块测试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6499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闭环集成测试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微软雅黑"/>
              </a:defRPr>
            </a:pPr>
            <a:r>
              <a:t>52/52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593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A5C0"/>
                </a:solidFill>
                <a:latin typeface="微软雅黑"/>
              </a:defRPr>
            </a:pPr>
            <a:r>
              <a:t>全部通过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394960" cy="32004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端到端闭环验证（DEV001）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检出异常：周期 #192，健康度 0.0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自动生成预警（严重等级）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专家诊断命中 R001（涡轮叶片磨损）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自动生成运维工单（高优先级）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工单流转：待处理 → 维修中 → 已完成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前端"一键闭环演练"按钮可复现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1064240" cy="137160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微软雅黑"/>
              </a:defRPr>
            </a:pPr>
            <a:r>
              <a:t>快速运行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A5C0"/>
                </a:solidFill>
                <a:latin typeface="Consolas"/>
              </a:defRPr>
            </a:pPr>
            <a:r>
              <a:t>后端：cd backend &amp;&amp; pip install -r requirements.txt &amp;&amp; python -m app.seed &amp;&amp; python -m app.algorithms.train &amp;&amp; python -m uvicorn app.main:app --port 8000</a:t>
            </a:r>
            <a:br/>
            <a:r>
              <a:t>前端：cd frontend &amp;&amp; npm install &amp;&amp; npm run dev（访问 http://127.0.0.1:5173）</a:t>
            </a:r>
            <a:br/>
            <a:r>
              <a:t>测试：cd backend &amp;&amp; python -m pytest tests -v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AI 使用披露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vibe coding 全流程 · 提示词工程 + 上下文工程 + 规格驱动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12801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微软雅黑"/>
              </a:defRPr>
            </a:pPr>
            <a:r>
              <a:t>提示词工程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任务拆解 + 技术约束 + 验收标准</a:t>
            </a:r>
            <a:br/>
            <a:r>
              <a:t>三段式模板，杜绝随意提问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12801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微软雅黑"/>
              </a:defRPr>
            </a:pPr>
            <a:r>
              <a:t>上下文工程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PROJECT_RULES.md 总规则文件</a:t>
            </a:r>
            <a:br/>
            <a:r>
              <a:t>AI 改代码前必读规则+现有代码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5394960" cy="12801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微软雅黑"/>
              </a:defRPr>
            </a:pPr>
            <a:r>
              <a:t>规格驱动开发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需求文档 → AI 分步计划 → 人工审核</a:t>
            </a:r>
            <a:br/>
            <a:r>
              <a:t>→ 单步开发 → 运行验证 → 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394960" cy="128016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微软雅黑"/>
              </a:defRPr>
            </a:pPr>
            <a:r>
              <a:t>过程留痕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A5C0"/>
                </a:solidFill>
                <a:latin typeface="微软雅黑"/>
              </a:defRPr>
            </a:pPr>
            <a:r>
              <a:t>prompt/ 目录 6 阶段 JSON 记录</a:t>
            </a:r>
            <a:br/>
            <a:r>
              <a:t>Git 小步提交，备注「模块-内容」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AI 出错案例与纠正（节选）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3A5C0"/>
                </a:solidFill>
                <a:latin typeface="微软雅黑"/>
              </a:defRPr>
            </a:pPr>
            <a:r>
              <a:t>模型字段与 schema 不一致 → 缩小改动范围修正，重跑测试验证</a:t>
            </a:r>
          </a:p>
          <a:p>
            <a:pPr>
              <a:spcAft>
                <a:spcPts val="800"/>
              </a:spcAft>
              <a:defRPr sz="1200">
                <a:solidFill>
                  <a:srgbClr val="93A5C0"/>
                </a:solidFill>
                <a:latin typeface="微软雅黑"/>
              </a:defRPr>
            </a:pPr>
            <a:r>
              <a:t>孤立森林用全量数据训练导致基线偏移 → 改为健康早期 50% 建基线，精确率 0.43→0.49</a:t>
            </a:r>
          </a:p>
          <a:p>
            <a:pPr>
              <a:spcAft>
                <a:spcPts val="800"/>
              </a:spcAft>
              <a:defRPr sz="1200">
                <a:solidFill>
                  <a:srgbClr val="93A5C0"/>
                </a:solidFill>
                <a:latin typeface="微软雅黑"/>
              </a:defRPr>
            </a:pPr>
            <a:r>
              <a:t>LSTM 输入维度不匹配 → 回滚+区分统计路径(77维)与时序路径(30×17)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项目结构与交付物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Git 仓库全程管理 · 6 阶段交付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389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仓库目录结构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A5C0"/>
                </a:solidFill>
                <a:latin typeface="Consolas"/>
              </a:defRPr>
            </a:pPr>
            <a:r>
              <a:t>xiaozhou/</a:t>
            </a:r>
            <a:br/>
            <a:r>
              <a:t>├── backend/          FastAPI 后端</a:t>
            </a:r>
            <a:br/>
            <a:r>
              <a:t>│   ├── app/          路由/服务/算法/模型</a:t>
            </a:r>
            <a:br/>
            <a:r>
              <a:t>│   ├── tests/        52 个 pytest 用例</a:t>
            </a:r>
            <a:br/>
            <a:r>
              <a:t>│   └── requirements.txt</a:t>
            </a:r>
            <a:br/>
            <a:r>
              <a:t>├── frontend/         Vue3 前端（六大页面）</a:t>
            </a:r>
            <a:br/>
            <a:r>
              <a:t>├── data/             数据集 + 预处理 + SQLite</a:t>
            </a:r>
            <a:br/>
            <a:r>
              <a:t>│   ├── raw/CMAPSS/   FD001 原始数据</a:t>
            </a:r>
            <a:br/>
            <a:r>
              <a:t>│   ├── processed/    预处理后数据</a:t>
            </a:r>
            <a:br/>
            <a:r>
              <a:t>│   └── preprocess.py</a:t>
            </a:r>
            <a:br/>
            <a:r>
              <a:t>├── prompt/           6 阶段 AI 交互记录</a:t>
            </a:r>
            <a:br/>
            <a:r>
              <a:t>├── showcase/         交互式演示页面</a:t>
            </a:r>
            <a:br/>
            <a:r>
              <a:t>├── 选题说明 / 方案设计 / 学习笔记</a:t>
            </a:r>
            <a:br/>
            <a:r>
              <a:t>├── 设计报告.docx / 答辩PPT.pptx</a:t>
            </a:r>
            <a:br/>
            <a:r>
              <a:t>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微软雅黑"/>
              </a:defRPr>
            </a:pPr>
            <a:r>
              <a:t>六阶段开发历程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212080" cy="502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微软雅黑"/>
              </a:defRPr>
            </a:pPr>
            <a:r>
              <a:t>阶段1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93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微软雅黑"/>
              </a:defRPr>
            </a:pPr>
            <a:r>
              <a:t>数据准备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08-30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5212080" cy="502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33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微软雅黑"/>
              </a:defRPr>
            </a:pPr>
            <a:r>
              <a:t>阶段2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33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微软雅黑"/>
              </a:defRPr>
            </a:pPr>
            <a:r>
              <a:t>后端+数据库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08-30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00400"/>
            <a:ext cx="5212080" cy="502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73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微软雅黑"/>
              </a:defRPr>
            </a:pPr>
            <a:r>
              <a:t>阶段3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微软雅黑"/>
              </a:defRPr>
            </a:pPr>
            <a:r>
              <a:t>算法模块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08-30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840479"/>
            <a:ext cx="5212080" cy="502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1363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微软雅黑"/>
              </a:defRPr>
            </a:pPr>
            <a:r>
              <a:t>阶段4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136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微软雅黑"/>
              </a:defRPr>
            </a:pPr>
            <a:r>
              <a:t>前端六大页面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9319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08-30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5212080" cy="502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553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微软雅黑"/>
              </a:defRPr>
            </a:pPr>
            <a:r>
              <a:t>阶段5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553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微软雅黑"/>
              </a:defRPr>
            </a:pPr>
            <a:r>
              <a:t>闭环联调测试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08-30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120640"/>
            <a:ext cx="5212080" cy="5029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223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1937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微软雅黑"/>
              </a:defRPr>
            </a:pPr>
            <a:r>
              <a:t>阶段6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193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7"/>
                </a:solidFill>
                <a:latin typeface="微软雅黑"/>
              </a:defRPr>
            </a:pPr>
            <a:r>
              <a:t>模型重训+LSTM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6F8F"/>
                </a:solidFill>
                <a:latin typeface="微软雅黑"/>
              </a:defRPr>
            </a:pPr>
            <a:r>
              <a:t>09-02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A5C0"/>
                </a:solidFill>
                <a:latin typeface="微软雅黑"/>
              </a:defRPr>
            </a:pPr>
            <a:r>
              <a:t>完成度与未来改进方向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微软雅黑"/>
              </a:defRPr>
            </a:pPr>
            <a:r>
              <a:t>工作总结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完整 B/S 架构系统，单机可运行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设备→孪生→监测→评估→预警→诊断→工单 全闭环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覆盖 5 个技术方向，无装饰性引入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随机森林 R² 0.72 / LSTM R² 0.77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52 个自动化测试全部通过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端到端闭环演示验证通过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✓ Git 小步提交 + prompt 全程留痕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389120"/>
          </a:xfrm>
          <a:prstGeom prst="roundRect">
            <a:avLst/>
          </a:prstGeom>
          <a:solidFill>
            <a:srgbClr val="111A2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不足与展望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→ 3D 孪生：引入 Three.js 实现三维车间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→ 真实数据：接入真实工业设备数据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→ 规则自动生成：知识图谱 + 规则挖掘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→ 容器化部署：Docker + 多用户并发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→ 模型优化：Transformer / 注意力机制</a:t>
            </a:r>
          </a:p>
          <a:p>
            <a:pPr>
              <a:spcAft>
                <a:spcPts val="800"/>
              </a:spcAft>
              <a:defRPr sz="1300">
                <a:solidFill>
                  <a:srgbClr val="93A5C0"/>
                </a:solidFill>
                <a:latin typeface="微软雅黑"/>
              </a:defRPr>
            </a:pPr>
            <a:r>
              <a:t>→ 边缘计算：端侧实时推理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254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EDF7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A5C0"/>
                </a:solidFill>
                <a:latin typeface="微软雅黑"/>
              </a:defRPr>
            </a:pPr>
            <a:r>
              <a:t>敬请各位老师批评指正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微软雅黑"/>
              </a:defRPr>
            </a:pPr>
            <a:r>
              <a:t>数字孪生车间智能监控与运维平台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6F8F"/>
                </a:solidFill>
                <a:latin typeface="Consolas"/>
              </a:defRPr>
            </a:pPr>
            <a:r>
              <a:t>GitHub: github.com/xiaozhou999100/xiaozhou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F8F"/>
                </a:solidFill>
                <a:latin typeface="微软雅黑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